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D145B"/>
                </a:solidFill>
                <a:latin typeface="Calibri"/>
              </a:rPr>
              <a:t>TECH CHALLENGE  · 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>
                <a:solidFill>
                  <a:srgbClr val="1A1A1A"/>
                </a:solidFill>
                <a:latin typeface="Calibri"/>
              </a:rPr>
              <a:t>NPS Preditivo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Antecipando a satisfação do cliente a partir de dados operacionais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526280"/>
            <a:ext cx="73152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8523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·  Turma 1IAST  ·  MBA AI Scientist  ·  FIAP / POSTECH</a:t>
            </a:r>
          </a:p>
        </p:txBody>
      </p:sp>
      <p:pic>
        <p:nvPicPr>
          <p:cNvPr id="9" name="Picture 8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779008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github.com/guillecosme/fiap-ai-scientist-tech-challange-fase-01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CONTEXTO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68580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O NPS é coletado depois da jornada de compra.</a:t>
            </a:r>
          </a:p>
          <a:p>
            <a:pPr algn="l">
              <a:spcBef>
                <a:spcPts val="1200"/>
              </a:spcBef>
            </a:pPr>
            <a:r>
              <a:rPr sz="1600" b="0">
                <a:solidFill>
                  <a:srgbClr val="555555"/>
                </a:solidFill>
                <a:latin typeface="Calibri"/>
              </a:rPr>
              <a:t>Quando a empresa descobre que o cliente está insatisfeito, a venda já terminou e a oportunidade de agir preventivamente passou.</a:t>
            </a:r>
          </a:p>
          <a:p>
            <a:pPr algn="l">
              <a:spcBef>
                <a:spcPts val="1800"/>
              </a:spcBef>
            </a:pPr>
            <a:r>
              <a:rPr sz="1600" b="0">
                <a:solidFill>
                  <a:srgbClr val="555555"/>
                </a:solidFill>
                <a:latin typeface="Calibri"/>
              </a:rPr>
              <a:t>Resultado: um indicador estratégico vira métrica de retrovisor.</a:t>
            </a:r>
          </a:p>
          <a:p>
            <a:pPr algn="l">
              <a:spcBef>
                <a:spcPts val="1800"/>
              </a:spcBef>
            </a:pPr>
            <a:r>
              <a:rPr sz="1600" b="0">
                <a:solidFill>
                  <a:srgbClr val="555555"/>
                </a:solidFill>
                <a:latin typeface="Calibri"/>
              </a:rPr>
              <a:t>O time de operação precisa de um sinal mais cedo, baseado em dados que já estão disponíveis durante o pedido.</a:t>
            </a:r>
          </a:p>
          <a:p>
            <a:pPr algn="l">
              <a:spcBef>
                <a:spcPts val="22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META DE NEGÓCIO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1A1A1A"/>
                </a:solidFill>
                <a:latin typeface="Calibri"/>
              </a:rPr>
              <a:t>Reduzir a parcela de detratores agindo antes da pesquisa de NPS, transformando dado operacional em sinal preditivo acionável.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2286000"/>
            <a:ext cx="3520440" cy="146304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80" y="242316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145B"/>
                </a:solidFill>
                <a:latin typeface="Calibri"/>
              </a:rPr>
              <a:t>DETRATORES NA BASE</a:t>
            </a:r>
          </a:p>
          <a:p>
            <a:pPr algn="l">
              <a:spcBef>
                <a:spcPts val="400"/>
              </a:spcBef>
            </a:pPr>
            <a:r>
              <a:rPr sz="3200" b="1">
                <a:solidFill>
                  <a:srgbClr val="1A1A1A"/>
                </a:solidFill>
                <a:latin typeface="Calibri"/>
              </a:rPr>
              <a:t>84,4%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55555"/>
                </a:solidFill>
                <a:latin typeface="Calibri"/>
              </a:rPr>
              <a:t>fortemente desbalanceada para o lado do descontentamento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931920"/>
            <a:ext cx="3520440" cy="146304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4069080"/>
            <a:ext cx="3246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145B"/>
                </a:solidFill>
                <a:latin typeface="Calibri"/>
              </a:rPr>
              <a:t>PEDIDOS ANALISADOS</a:t>
            </a:r>
          </a:p>
          <a:p>
            <a:pPr algn="l">
              <a:spcBef>
                <a:spcPts val="400"/>
              </a:spcBef>
            </a:pPr>
            <a:r>
              <a:rPr sz="3200" b="1">
                <a:solidFill>
                  <a:srgbClr val="1A1A1A"/>
                </a:solidFill>
                <a:latin typeface="Calibri"/>
              </a:rPr>
              <a:t>2.500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55555"/>
                </a:solidFill>
                <a:latin typeface="Calibri"/>
              </a:rPr>
              <a:t>uma observação por cliente, sem timestamps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OBJETIVO DO TRABALHO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A pergunta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27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PERGUNTA-CHAVE</a:t>
            </a:r>
          </a:p>
          <a:p>
            <a:pPr algn="l">
              <a:spcBef>
                <a:spcPts val="800"/>
              </a:spcBef>
            </a:pPr>
            <a:r>
              <a:rPr sz="2200" b="1">
                <a:solidFill>
                  <a:srgbClr val="1A1A1A"/>
                </a:solidFill>
                <a:latin typeface="Calibri"/>
              </a:rPr>
              <a:t>Quais fatores operacionais influenciam a satisfação do cliente, e como agir proativamente antes da pesquisa de NPS?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27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PERGUNTA DE MODELAGEM</a:t>
            </a:r>
          </a:p>
          <a:p>
            <a:pPr algn="l">
              <a:spcBef>
                <a:spcPts val="800"/>
              </a:spcBef>
            </a:pPr>
            <a:r>
              <a:rPr sz="2200" b="1">
                <a:solidFill>
                  <a:srgbClr val="1A1A1A"/>
                </a:solidFill>
                <a:latin typeface="Calibri"/>
              </a:rPr>
              <a:t>É possível prever o NPS de um cliente a partir de dados operacionais coletados antes da pesquisa?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COMO CHEGUEI NAS RESPOSTAS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Fluxo de raciocínio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Seis notebooks seguindo CRISP-DM, do entendimento do problema ao alarme operacional.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468880"/>
            <a:ext cx="169164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D1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3727" y="25603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145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306324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Business
Understanding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3429000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55555"/>
                </a:solidFill>
                <a:latin typeface="Calibri"/>
              </a:rPr>
              <a:t>Tradução da dor: por que o NPS chegando tarde custa caro.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55367.5" y="3566160"/>
            <a:ext cx="182880.0" cy="0"/>
          </a:xfrm>
          <a:prstGeom prst="bentConnector3">
            <a:avLst/>
          </a:prstGeom>
          <a:ln w="19050">
            <a:solidFill>
              <a:srgbClr val="ED1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38247" y="2468880"/>
            <a:ext cx="169164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D1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8247" y="25603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9687" y="306324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Data
Understanding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5407" y="3429000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55555"/>
                </a:solidFill>
                <a:latin typeface="Calibri"/>
              </a:rPr>
              <a:t>Perfil das 19 colunas, qualidade dos dados e definição formal da target.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29887.5" y="3566160"/>
            <a:ext cx="182880.0" cy="0"/>
          </a:xfrm>
          <a:prstGeom prst="bentConnector3">
            <a:avLst/>
          </a:prstGeom>
          <a:ln w="19050">
            <a:solidFill>
              <a:srgbClr val="ED1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312767" y="2468880"/>
            <a:ext cx="169164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D1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2767" y="25603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4207" y="306324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Data
Preparation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9927" y="3429000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55555"/>
                </a:solidFill>
                <a:latin typeface="Calibri"/>
              </a:rPr>
              <a:t>Categorização do NPS, transformações e dataset processado salvo.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04407.5" y="3566160"/>
            <a:ext cx="182880.0" cy="0"/>
          </a:xfrm>
          <a:prstGeom prst="bentConnector3">
            <a:avLst/>
          </a:prstGeom>
          <a:ln w="19050">
            <a:solidFill>
              <a:srgbClr val="ED1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187287" y="2468880"/>
            <a:ext cx="169164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D1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7287" y="25603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306324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EDA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3429000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55555"/>
                </a:solidFill>
                <a:latin typeface="Calibri"/>
              </a:rPr>
              <a:t>Sete hipóteses testadas. Atraso de entrega aparece como variável dominante.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8927.5" y="3566160"/>
            <a:ext cx="182880.0" cy="0"/>
          </a:xfrm>
          <a:prstGeom prst="bentConnector3">
            <a:avLst/>
          </a:prstGeom>
          <a:ln w="19050">
            <a:solidFill>
              <a:srgbClr val="ED1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061807" y="2468880"/>
            <a:ext cx="169164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D1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1807" y="25603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3247" y="306324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Modelagem
Regressão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8967" y="3429000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55555"/>
                </a:solidFill>
                <a:latin typeface="Calibri"/>
              </a:rPr>
              <a:t>Reta simples sobre o atraso explica boa parte do NPS no teste.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53447.5" y="3566160"/>
            <a:ext cx="182880.0" cy="0"/>
          </a:xfrm>
          <a:prstGeom prst="bentConnector3">
            <a:avLst/>
          </a:prstGeom>
          <a:ln w="19050">
            <a:solidFill>
              <a:srgbClr val="ED1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36327" y="2468880"/>
            <a:ext cx="169164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D1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6327" y="25603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7767" y="306324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Modelagem
Classificação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73487" y="3429000"/>
            <a:ext cx="14173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555555"/>
                </a:solidFill>
                <a:latin typeface="Calibri"/>
              </a:rPr>
              <a:t>Threshold sobre o NPS predito vira alarme operacional.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029200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Da esquerda para a direita: do problema até a recomendação operacional.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532120"/>
            <a:ext cx="10927080" cy="59436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623560"/>
            <a:ext cx="10652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Cada notebook responde uma pergunta específica e passa o bastão para o próximo. O resultado final é uma regra simples que a operação consegue executar.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BASE DO DESAFIO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Os dados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2.500 pedidos, 19 colunas originais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55555"/>
                </a:solidFill>
                <a:latin typeface="Calibri"/>
              </a:rPr>
              <a:t>Cobertura completa, sem missing, uma observação por cliente.</a:t>
            </a:r>
          </a:p>
          <a:p>
            <a:pPr algn="l">
              <a:spcBef>
                <a:spcPts val="18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CINCO DIMENSÕES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1A1A1A"/>
                </a:solidFill>
                <a:latin typeface="Calibri"/>
              </a:rPr>
              <a:t>Cliente — id, idade, região, tempo de relacionamento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Calibri"/>
              </a:rPr>
              <a:t>Pedido — valor, itens, descontos, parcelas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Calibri"/>
              </a:rPr>
              <a:t>Logística — tempo de entrega, atraso, frete, tentativas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Calibri"/>
              </a:rPr>
              <a:t>Atendimento — contatos com SAC, resolução, reclamações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1A1A1A"/>
                </a:solidFill>
                <a:latin typeface="Calibri"/>
              </a:rPr>
              <a:t>Indicadores internos — CSAT interno, recompra em 30 dias</a:t>
            </a:r>
          </a:p>
          <a:p>
            <a:pPr algn="l">
              <a:spcBef>
                <a:spcPts val="18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TARGET (DEFINIÇÃO CONSCIENTE)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nps_score (contínuo 0–10) → decisão binária detrator vs não-detrator no notebook 6, usando o corte canônico do NPS (&lt; 7).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55555"/>
                </a:solidFill>
                <a:latin typeface="Calibri"/>
              </a:rPr>
              <a:t>Janela de previsão: do registro do pedido até a pesquisa de NPS.</a:t>
            </a:r>
          </a:p>
          <a:p>
            <a:pPr algn="l">
              <a:spcBef>
                <a:spcPts val="14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RISCOS DE USO INADEQUADO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A1A1A"/>
                </a:solidFill>
                <a:latin typeface="Calibri"/>
              </a:rPr>
              <a:t>Leakage com csat_internal_score (não entra como preditor). Desbalanceamento 84% detratores (avaliado com precisão e recall, não só acurácia). Correlação ≠ causalidade nas recomendações operacionais.</a:t>
            </a:r>
          </a:p>
        </p:txBody>
      </p:sp>
      <p:pic>
        <p:nvPicPr>
          <p:cNvPr id="6" name="Picture 5" descr="2_3_distribuicao_nps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303520" cy="259103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O QUE A EDA MOSTROU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Atraso na entrega é a variável dominante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54864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Sete hipóteses foram testadas no notebook 04. A logística venceu por uma margem larga.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555555"/>
                </a:solidFill>
                <a:latin typeface="Calibri"/>
              </a:rPr>
              <a:t>O atraso na entrega tem a correlação mais forte com o NPS, muito acima de variáveis de perfil do cliente, valor do pedido ou frete.</a:t>
            </a:r>
          </a:p>
          <a:p>
            <a:pPr algn="l">
              <a:spcBef>
                <a:spcPts val="22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ATACAR LOGÍSTICA = ATACAR A CAUSA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1A1A1A"/>
                </a:solidFill>
                <a:latin typeface="Calibri"/>
              </a:rPr>
              <a:t>Outros fatores existem, mas o impacto médio deles sobre o NPS é pequeno comparado ao impacto de um pedido entregue com atraso.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555555"/>
                </a:solidFill>
                <a:latin typeface="Calibri"/>
              </a:rPr>
              <a:t>Esse achado direcionou a escolha do modelo: regressão simples sobre o atraso, em vez de uma multivariada cheia de variáveis fracas.</a:t>
            </a:r>
          </a:p>
        </p:txBody>
      </p:sp>
      <p:pic>
        <p:nvPicPr>
          <p:cNvPr id="6" name="Picture 5" descr="4_2_correlacao_com_n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394960" cy="33905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PROFUNDIDADE NA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Sete hipóteses para sair do achismo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270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Antes de modelar, formulei sete hipóteses concretas no notebook 01 e testei cada uma com método estatístico no notebook 04.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555555"/>
                </a:solidFill>
                <a:latin typeface="Calibri"/>
              </a:rPr>
              <a:t>A regra foi: nenhuma variável entra no modelo só porque parece importante. Cada candidata teve que sobreviver a um teste formal — t de Welch, regressão com interação, intervalo de Wilson, teste z de proporção — antes de avançar.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3108960"/>
            <a:ext cx="3611880" cy="29260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3108960"/>
            <a:ext cx="3611880" cy="7315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3337560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D145B"/>
                </a:solidFill>
                <a:latin typeface="Calibri"/>
              </a:rPr>
              <a:t>LOGÍSTICA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379476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H1 · Existe ponto de ruptura no tempo total de entrega?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H2 · Tolerância a atraso depende do valor do pedido?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9907" y="3108960"/>
            <a:ext cx="3611880" cy="29260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9907" y="3108960"/>
            <a:ext cx="3611880" cy="7315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507" y="3337560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D145B"/>
                </a:solidFill>
                <a:latin typeface="Calibri"/>
              </a:rPr>
              <a:t>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79476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H3 · SAC rápido recupera detrator (Service Recovery Paradox)?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H4 · Existem blind spots entre CSAT interno e NPS?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H6 · Existe detrator silencioso (zero contatos no SAC)?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8947" y="3108960"/>
            <a:ext cx="3611880" cy="292608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8947" y="3108960"/>
            <a:ext cx="3611880" cy="7315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7547" y="3337560"/>
            <a:ext cx="3154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D145B"/>
                </a:solidFill>
                <a:latin typeface="Calibri"/>
              </a:rPr>
              <a:t>CLIENTE / NEGÓCIO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7547" y="379476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H5 · NPS prediz recompra em 30 dias?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H7 · Variação por região é operacional ou cultural?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RESULTADOS DOS TESTES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 que sobreviveu ao teste estatístico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0"/>
                <a:gridCol w="571500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Hipótese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Ponto de ruptura no tempo total de entrega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❌ Rejeitada — velocidade absoluta não move o NPS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Tolerância a atraso depende do valor do pedido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❌ Rejeitada — atraso machuca todos igualmente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SAC rápido amortece detração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✅ Confirmada (versão atenuada) — +1,27 pt de NPS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Blind spots entre CSAT interno e NPS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✅ Confirmada — 5% da base com gap &gt; 2,3 pontos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NPS prediz recompra em 30 dias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✅ Confirmada — 0% detrator vs 100% promotor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Detrator silencioso (zero contatos no SAC)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✅ Confirmada — 70,8% dos silenciosos são detratores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ED145B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Variação regional é operacional, não cultural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⚠️ Inaplicável — sem variação regional no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440680"/>
            <a:ext cx="10927080" cy="91440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532120"/>
            <a:ext cx="106527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ED145B"/>
                </a:solidFill>
                <a:latin typeface="Calibri"/>
              </a:rPr>
              <a:t>POR QUE ISSO LEVOU AO MODELO SIMPLES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1A1A1A"/>
                </a:solidFill>
                <a:latin typeface="Calibri"/>
              </a:rPr>
              <a:t>O atraso na entrega foi a única variável com efeito grande, monotônico e robusto. As outras ou foram rejeitadas, ou tiveram impacto pequeno demais para sustentar um modelo. Por isso o notebook 5 usa só essa variável, e o notebook 6 transforma a previsão em decisão.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MODELO DE PREVISÃO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Uma reta simples já captura o sinal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5_5_ajuste_regre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6400800" cy="37181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920240"/>
            <a:ext cx="44805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REGRESSÃO LINEAR SIMPLES</a:t>
            </a:r>
          </a:p>
          <a:p>
            <a:pPr algn="l">
              <a:spcBef>
                <a:spcPts val="800"/>
              </a:spcBef>
            </a:pPr>
            <a:r>
              <a:rPr sz="1700" b="1">
                <a:solidFill>
                  <a:srgbClr val="1A1A1A"/>
                </a:solidFill>
                <a:latin typeface="Calibri"/>
              </a:rPr>
              <a:t>NPS = 6,63 - 1,02 x atraso (dias)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555555"/>
                </a:solidFill>
                <a:latin typeface="Calibri"/>
              </a:rPr>
              <a:t>Cada dia de atraso derruba a nota do cliente em ~1 ponto.</a:t>
            </a:r>
          </a:p>
          <a:p>
            <a:pPr algn="l">
              <a:spcBef>
                <a:spcPts val="22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DESEMPENHO NO TESTE</a:t>
            </a:r>
          </a:p>
          <a:p>
            <a:pPr algn="l">
              <a:spcBef>
                <a:spcPts val="600"/>
              </a:spcBef>
            </a:pPr>
            <a:r>
              <a:rPr sz="1800" b="1">
                <a:solidFill>
                  <a:srgbClr val="1A1A1A"/>
                </a:solidFill>
                <a:latin typeface="Calibri"/>
              </a:rPr>
              <a:t>R² = 0,40</a:t>
            </a:r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1A1A1A"/>
                </a:solidFill>
                <a:latin typeface="Calibri"/>
              </a:rPr>
              <a:t>MAE = 1,58 ponto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555555"/>
                </a:solidFill>
                <a:latin typeface="Calibri"/>
              </a:rPr>
              <a:t>Significa que, em média, a previsão erra menos de dois pontos da nota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MODELO DE DECISÃO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Da previsão para a decisão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_5_metricas_por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6766560" cy="40036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92024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CLASSIFICAÇÃO POR THRESHOLD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55555"/>
                </a:solidFill>
                <a:latin typeface="Calibri"/>
              </a:rPr>
              <a:t>NPS predito abaixo do corte = detrator. Acima = não-detrator.</a:t>
            </a:r>
          </a:p>
          <a:p>
            <a:pPr algn="l">
              <a:spcBef>
                <a:spcPts val="18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CORTE ESCOLHIDO</a:t>
            </a:r>
          </a:p>
          <a:p>
            <a:pPr algn="l">
              <a:spcBef>
                <a:spcPts val="400"/>
              </a:spcBef>
            </a:pPr>
            <a:r>
              <a:rPr sz="3600" b="1">
                <a:solidFill>
                  <a:srgbClr val="1A1A1A"/>
                </a:solidFill>
                <a:latin typeface="Calibri"/>
              </a:rPr>
              <a:t>6,0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55555"/>
                </a:solidFill>
                <a:latin typeface="Calibri"/>
              </a:rPr>
              <a:t>Equivale a: pedidos com atraso a partir de 1 dia entram na lista de ação.</a:t>
            </a:r>
          </a:p>
          <a:p>
            <a:pPr algn="l">
              <a:spcBef>
                <a:spcPts val="14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RESULTADO</a:t>
            </a:r>
          </a:p>
          <a:p>
            <a:pPr algn="l">
              <a:spcBef>
                <a:spcPts val="400"/>
              </a:spcBef>
            </a:pPr>
            <a:r>
              <a:rPr sz="1800" b="1">
                <a:solidFill>
                  <a:srgbClr val="1A1A1A"/>
                </a:solidFill>
                <a:latin typeface="Calibri"/>
              </a:rPr>
              <a:t>F1 = 0,906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55555"/>
                </a:solidFill>
                <a:latin typeface="Calibri"/>
              </a:rPr>
              <a:t>Precisão 89,5%, recall 91,8%.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LIMITES E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Onde o modelo erra (e por que isso importa)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_6_perfil_quadr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7772400" cy="2452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2004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FALSOS NEGATIVOS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Detratores que escapam têm entrega no prazo, mas mais contatos com SAC e CSAT mais baixo.</a:t>
            </a:r>
          </a:p>
          <a:p>
            <a:pPr algn="l">
              <a:spcBef>
                <a:spcPts val="16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FALSOS POSITIVOS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Clientes 'tolerantes': tiveram atraso, mas não reclamaram nem rebaixaram a nota.</a:t>
            </a:r>
          </a:p>
          <a:p>
            <a:pPr algn="l">
              <a:spcBef>
                <a:spcPts val="1600"/>
              </a:spcBef>
            </a:pPr>
            <a:r>
              <a:rPr sz="1100" b="1">
                <a:solidFill>
                  <a:srgbClr val="ED145B"/>
                </a:solidFill>
                <a:latin typeface="Calibri"/>
              </a:rPr>
              <a:t>ONDE EXPANDIR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A1A1A"/>
                </a:solidFill>
                <a:latin typeface="Calibri"/>
              </a:rPr>
              <a:t>Adicionar contatos com SAC e CSAT ao modelo cobre os FNs em uma versão futura.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RECOMENDAÇÕES DE NEGÓCIO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Três formas de usar o modelo amanhã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867" y="2194560"/>
            <a:ext cx="3611880" cy="3931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867" y="2194560"/>
            <a:ext cx="3611880" cy="109728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5187" y="2468880"/>
            <a:ext cx="3063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ED145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187" y="356616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A1A1A"/>
                </a:solidFill>
                <a:latin typeface="Calibri"/>
              </a:rPr>
              <a:t>Alarme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425196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Calibri"/>
              </a:rPr>
              <a:t>Acionar o SAC proativamente nos pedidos com atraso a partir de 1 dia, antes da pesquisa de NPS sair.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9907" y="2194560"/>
            <a:ext cx="3611880" cy="3931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9907" y="2194560"/>
            <a:ext cx="3611880" cy="109728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4227" y="2468880"/>
            <a:ext cx="3063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4227" y="356616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A1A1A"/>
                </a:solidFill>
                <a:latin typeface="Calibri"/>
              </a:rPr>
              <a:t>Priorização do SAC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227" y="425196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Calibri"/>
              </a:rPr>
              <a:t>Distribuir a fila do atendimento pelo NPS predito ranqueado, atacando primeiro os clientes com maior risco.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8947" y="2194560"/>
            <a:ext cx="3611880" cy="3931920"/>
          </a:xfrm>
          <a:prstGeom prst="rect">
            <a:avLst/>
          </a:prstGeom>
          <a:solidFill>
            <a:srgbClr val="FAFAFA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8947" y="2194560"/>
            <a:ext cx="3611880" cy="109728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3267" y="2468880"/>
            <a:ext cx="3063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566160"/>
            <a:ext cx="3063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A1A1A"/>
                </a:solidFill>
                <a:latin typeface="Calibri"/>
              </a:rPr>
              <a:t>Painel de NPS projetado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25196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Calibri"/>
              </a:rPr>
              <a:t>Acompanhar em tempo real o NPS estimado da operação, sem esperar a pesquisa fechar para ler o humor da base.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ED145B"/>
                </a:solidFill>
                <a:latin typeface="Calibri"/>
              </a:rPr>
              <a:t>PARA ALÉM DA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38100"/>
          </a:xfrm>
          <a:prstGeom prst="rect">
            <a:avLst/>
          </a:prstGeom>
          <a:solidFill>
            <a:srgbClr val="ED1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270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Modelo multivariado.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55555"/>
                </a:solidFill>
                <a:latin typeface="Calibri"/>
              </a:rPr>
              <a:t>Incluir contatos com SAC e CSAT interno para reduzir falsos negativos.</a:t>
            </a:r>
          </a:p>
          <a:p>
            <a:pPr algn="l">
              <a:spcBef>
                <a:spcPts val="1800"/>
              </a:spcBef>
            </a:pPr>
            <a:r>
              <a:rPr sz="1800" b="1">
                <a:solidFill>
                  <a:srgbClr val="1A1A1A"/>
                </a:solidFill>
                <a:latin typeface="Calibri"/>
              </a:rPr>
              <a:t>Integração com o fluxo do SAC.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55555"/>
                </a:solidFill>
                <a:latin typeface="Calibri"/>
              </a:rPr>
              <a:t>Operacionalizar o alarme dentro da ferramenta de atendimento, fechando o ciclo entre dado e ação.</a:t>
            </a:r>
          </a:p>
          <a:p>
            <a:pPr algn="l">
              <a:spcBef>
                <a:spcPts val="1800"/>
              </a:spcBef>
            </a:pPr>
            <a:r>
              <a:rPr sz="1800" b="1">
                <a:solidFill>
                  <a:srgbClr val="1A1A1A"/>
                </a:solidFill>
                <a:latin typeface="Calibri"/>
              </a:rPr>
              <a:t>Monitoramento contínuo.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55555"/>
                </a:solidFill>
                <a:latin typeface="Calibri"/>
              </a:rPr>
              <a:t>Acompanhar a estabilidade das métricas ao longo do tempo e revisar o threshold conforme a operação evolui.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212080"/>
            <a:ext cx="10927080" cy="9144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49240"/>
            <a:ext cx="10927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Obrigado.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27080" cy="9525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NPS Preditivo  ·  Tech Challenge Fase 1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6519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ED145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