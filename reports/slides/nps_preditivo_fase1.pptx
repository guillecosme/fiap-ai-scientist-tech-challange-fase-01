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D145B"/>
                </a:solidFill>
                <a:latin typeface="Calibri"/>
              </a:rPr>
              <a:t>TECH CHALLENGE  ·  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06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Calibri"/>
              </a:rPr>
              <a:t>NPS Preditivo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Antecipando a satisfação do cliente a partir de dados operacionais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26280"/>
            <a:ext cx="73152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Guilherme Cosme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852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RM 372204  ·  Turma 1IAST  ·  MBA AI Scientist  ·  FIAP / POSTECH</a:t>
            </a:r>
          </a:p>
        </p:txBody>
      </p:sp>
      <p:pic>
        <p:nvPicPr>
          <p:cNvPr id="9" name="Picture 8" descr="github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779008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github.com/guillecosme/fiap-ai-scientist-tech-challange-fase-01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CONTEXTO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O NPS é coletado depois da jornada de compra.</a:t>
            </a:r>
          </a:p>
          <a:p>
            <a:pPr algn="l">
              <a:spcBef>
                <a:spcPts val="12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Quando a empresa descobre que o cliente está insatisfeito, a venda já terminou e a oportunidade de agir preventivamente passou.</a:t>
            </a:r>
          </a:p>
          <a:p>
            <a:pPr algn="l">
              <a:spcBef>
                <a:spcPts val="18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Resultado: um indicador estratégico vira métrica de retrovisor.</a:t>
            </a:r>
          </a:p>
          <a:p>
            <a:pPr algn="l">
              <a:spcBef>
                <a:spcPts val="18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O time de operação precisa de um sinal mais cedo, baseado em dados que já estão disponíveis durante o pedido.</a:t>
            </a:r>
          </a:p>
          <a:p>
            <a:pPr algn="l">
              <a:spcBef>
                <a:spcPts val="22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META DE NEGÓCIO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1A1A1A"/>
                </a:solidFill>
                <a:latin typeface="Calibri"/>
              </a:rPr>
              <a:t>Reduzir a parcela de detratores agindo antes da pesquisa de NPS, transformando dado operacional em sinal preditivo acionável.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286000"/>
            <a:ext cx="352044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242316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DETRATORES NA BASE</a:t>
            </a:r>
          </a:p>
          <a:p>
            <a:pPr algn="l">
              <a:spcBef>
                <a:spcPts val="400"/>
              </a:spcBef>
            </a:pPr>
            <a:r>
              <a:rPr sz="3200" b="1">
                <a:solidFill>
                  <a:srgbClr val="1A1A1A"/>
                </a:solidFill>
                <a:latin typeface="Calibri"/>
              </a:rPr>
              <a:t>84,4%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fortemente desbalanceada para o lado do descontentamento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3931920"/>
            <a:ext cx="352044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406908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PEDIDOS ANALISADOS</a:t>
            </a:r>
          </a:p>
          <a:p>
            <a:pPr algn="l">
              <a:spcBef>
                <a:spcPts val="400"/>
              </a:spcBef>
            </a:pPr>
            <a:r>
              <a:rPr sz="3200" b="1">
                <a:solidFill>
                  <a:srgbClr val="1A1A1A"/>
                </a:solidFill>
                <a:latin typeface="Calibri"/>
              </a:rPr>
              <a:t>2.500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uma observação por cliente, sem timestamps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OBJETIVO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pergunta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27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PERGUNTA-CHAVE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1A1A1A"/>
                </a:solidFill>
                <a:latin typeface="Calibri"/>
              </a:rPr>
              <a:t>Quais fatores operacionais influenciam a satisfação do cliente, e como agir proativamente antes da pesquisa de NPS?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27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PERGUNTA DE MODELAGEM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1A1A1A"/>
                </a:solidFill>
                <a:latin typeface="Calibri"/>
              </a:rPr>
              <a:t>É possível prever o NPS de um cliente a partir de dados operacionais coletados antes da pesquisa?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COMO CHEGUEI NAS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Fluxo de raciocínio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Seis notebooks seguindo CRISP-DM, do entendimento do problema ao alarme operacional.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2468880"/>
            <a:ext cx="169164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2560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145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0632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Business
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3429000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Tradução da dor: por que o NPS chegando tarde custa caro.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5367.5" y="3566160"/>
            <a:ext cx="182880.0" cy="0"/>
          </a:xfrm>
          <a:prstGeom prst="bentConnector3">
            <a:avLst/>
          </a:prstGeom>
          <a:ln w="19050">
            <a:solidFill>
              <a:srgbClr val="ED1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38247" y="2468880"/>
            <a:ext cx="169164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8247" y="2560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145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9687" y="30632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Data
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407" y="3429000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Perfil das 19 colunas, qualidade dos dados e definição formal da target.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29887.5" y="3566160"/>
            <a:ext cx="182880.0" cy="0"/>
          </a:xfrm>
          <a:prstGeom prst="bentConnector3">
            <a:avLst/>
          </a:prstGeom>
          <a:ln w="19050">
            <a:solidFill>
              <a:srgbClr val="ED1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12767" y="2468880"/>
            <a:ext cx="169164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767" y="2560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145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30632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Data
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3429000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Categorização do NPS, transformações e dataset processado salvo.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04407.5" y="3566160"/>
            <a:ext cx="182880.0" cy="0"/>
          </a:xfrm>
          <a:prstGeom prst="bentConnector3">
            <a:avLst/>
          </a:prstGeom>
          <a:ln w="19050">
            <a:solidFill>
              <a:srgbClr val="ED1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87287" y="2468880"/>
            <a:ext cx="169164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7287" y="2560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145B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0632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429000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Sete hipóteses testadas. Atraso de entrega aparece como variável dominante.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78927.5" y="3566160"/>
            <a:ext cx="182880.0" cy="0"/>
          </a:xfrm>
          <a:prstGeom prst="bentConnector3">
            <a:avLst/>
          </a:prstGeom>
          <a:ln w="19050">
            <a:solidFill>
              <a:srgbClr val="ED1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061807" y="2468880"/>
            <a:ext cx="169164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1807" y="2560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145B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3247" y="30632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Modelagem
Regressão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8967" y="3429000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Reta simples sobre o atraso explica boa parte do NPS no teste.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53447.5" y="3566160"/>
            <a:ext cx="182880.0" cy="0"/>
          </a:xfrm>
          <a:prstGeom prst="bentConnector3">
            <a:avLst/>
          </a:prstGeom>
          <a:ln w="19050">
            <a:solidFill>
              <a:srgbClr val="ED1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36327" y="2468880"/>
            <a:ext cx="169164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6327" y="2560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145B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7767" y="30632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Modelagem
Classificação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3487" y="3429000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Threshold sobre o NPS predito vira alarme operacional.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Da esquerda para a direita: do problema até a recomendação operacional.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532120"/>
            <a:ext cx="10927080" cy="5943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10652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Cada notebook responde uma pergunta específica e passa o bastão para o próximo. O resultado final é uma regra simples que a operação consegue executar.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BASE DO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2.500 pedidos, 19 colunas originais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Cobertura completa, sem missing, uma observação por cliente.</a:t>
            </a:r>
          </a:p>
          <a:p>
            <a:pPr algn="l">
              <a:spcBef>
                <a:spcPts val="18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CINCO DIMENSÕES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Cliente — id, idade, região, tempo de relacionamento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Pedido — valor, itens, descontos, parcelas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Logística — tempo de entrega, atraso, frete, tentativas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Atendimento — contatos com SAC, resolução, reclamações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Indicadores internos — CSAT interno, recompra em 30 dias</a:t>
            </a:r>
          </a:p>
          <a:p>
            <a:pPr algn="l">
              <a:spcBef>
                <a:spcPts val="18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TARGET (DEFINIÇÃO CONSCIENTE)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nps_score (contínuo 0–10) → decisão binária detrator vs não-detrator no notebook 6, usando o corte canônico do NPS (&lt; 7).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Janela de previsão: do registro do pedido até a pesquisa de NPS.</a:t>
            </a:r>
          </a:p>
        </p:txBody>
      </p:sp>
      <p:pic>
        <p:nvPicPr>
          <p:cNvPr id="6" name="Picture 5" descr="2_3_distribuicao_nps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303520" cy="25910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O QUE A EDA MOSTROU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Atraso na entrega é a variável dominante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Sete hipóteses foram testadas no notebook 04. A logística venceu por uma margem larga.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O atraso na entrega tem a correlação mais forte com o NPS, muito acima de variáveis de perfil do cliente, valor do pedido ou frete.</a:t>
            </a:r>
          </a:p>
          <a:p>
            <a:pPr algn="l">
              <a:spcBef>
                <a:spcPts val="22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ATACAR LOGÍSTICA = ATACAR A CAUSA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Outros fatores existem, mas o impacto médio deles sobre o NPS é pequeno comparado ao impacto de um pedido entregue com atraso.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Esse achado direcionou a escolha do modelo: regressão simples sobre o atraso, em vez de uma multivariada cheia de variáveis fracas.</a:t>
            </a:r>
          </a:p>
        </p:txBody>
      </p:sp>
      <p:pic>
        <p:nvPicPr>
          <p:cNvPr id="6" name="Picture 5" descr="4_2_correlacao_com_n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394960" cy="3390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PROFUNDIDADE NA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Sete hipóteses para sair do achismo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27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Antes de modelar, formulei sete hipóteses concretas no notebook 01 e testei cada uma com método estatístico no notebook 04.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A regra foi: nenhuma variável entra no modelo só porque parece importante. Cada candidata teve que sobreviver a um teste formal — t de Welch, regressão com interação, intervalo de Wilson, teste z de proporção — antes de avançar.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867" y="3108960"/>
            <a:ext cx="3611880" cy="29260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3108960"/>
            <a:ext cx="3611880" cy="7315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33375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145B"/>
                </a:solidFill>
                <a:latin typeface="Calibri"/>
              </a:rPr>
              <a:t>LOGÍSTICA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379476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H1 · Existe ponto de ruptura no tempo total de entrega?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H2 · Tolerância a atraso depende do valor do pedido?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9907" y="3108960"/>
            <a:ext cx="3611880" cy="29260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9907" y="3108960"/>
            <a:ext cx="3611880" cy="7315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8507" y="33375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145B"/>
                </a:solidFill>
                <a:latin typeface="Calibri"/>
              </a:rPr>
              <a:t>ATENDIMENTO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507" y="379476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H3 · SAC rápido recupera detrator (Service Recovery Paradox)?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H4 · Existem blind spots entre CSAT interno e NPS?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H6 · Existe detrator silencioso (zero contatos no SAC)?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8947" y="3108960"/>
            <a:ext cx="3611880" cy="29260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8947" y="3108960"/>
            <a:ext cx="3611880" cy="7315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7547" y="33375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145B"/>
                </a:solidFill>
                <a:latin typeface="Calibri"/>
              </a:rPr>
              <a:t>CLIENTE / NEGÓCIO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7547" y="379476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H5 · NPS prediz recompra em 30 dias?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H7 · Variação por região é operacional ou cultural?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RESULTADOS DOS TESTES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 que sobreviveu ao teste estatístico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27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572000"/>
                <a:gridCol w="57150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Hipótese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D145B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Ponto de ruptura no tempo total de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❌ Rejeitada — velocidade absoluta não move o NPS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D145B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Tolerância a atraso depende do valor do pedido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❌ Rejeitada — atraso machuca todos igualmente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D145B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SAC rápido amortece detração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✅ Confirmada (versão atenuada) — +1,27 pt de NPS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D145B"/>
                          </a:solidFill>
                          <a:latin typeface="Calibri"/>
                        </a:rPr>
                        <a:t>H4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Blind spots entre CSAT interno e NPS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✅ Confirmada — 5% da base com gap &gt; 2,3 pontos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D145B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NPS prediz recompra em 30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✅ Confirmada — 0% detrator vs 100% promotor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D145B"/>
                          </a:solidFill>
                          <a:latin typeface="Calibri"/>
                        </a:rPr>
                        <a:t>H6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Detrator silencioso (zero contatos no SAC)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✅ Confirmada — 70,8% dos silenciosos são detratores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ED145B"/>
                          </a:solidFill>
                          <a:latin typeface="Calibri"/>
                        </a:rPr>
                        <a:t>H7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Variação regional é operacional, não cultural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⚠️ Inaplicável — sem variação regional no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440680"/>
            <a:ext cx="1092708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32120"/>
            <a:ext cx="106527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POR QUE ISSO LEVOU AO MODELO SIMPLES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Calibri"/>
              </a:rPr>
              <a:t>O atraso na entrega foi a única variável com efeito grande, monotônico e robusto. As outras ou foram rejeitadas, ou tiveram impacto pequeno demais para sustentar um modelo. Por isso o notebook 5 usa só essa variável, e o notebook 6 transforma a previsão em decisão.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MODELO DE PREVISÃO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Uma reta simples já captura o sinal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5_5_ajuste_regres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6400800" cy="3718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920240"/>
            <a:ext cx="4480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REGRESSÃO LINEAR SIMPLES</a:t>
            </a:r>
          </a:p>
          <a:p>
            <a:pPr algn="l">
              <a:spcBef>
                <a:spcPts val="800"/>
              </a:spcBef>
            </a:pPr>
            <a:r>
              <a:rPr sz="1700" b="1">
                <a:solidFill>
                  <a:srgbClr val="1A1A1A"/>
                </a:solidFill>
                <a:latin typeface="Calibri"/>
              </a:rPr>
              <a:t>NPS = 6,63 - 1,02 x atraso (dias)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Cada dia de atraso derruba a nota do cliente em ~1 ponto.</a:t>
            </a:r>
          </a:p>
          <a:p>
            <a:pPr algn="l">
              <a:spcBef>
                <a:spcPts val="22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DESEMPENHO NO TESTE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1A1A1A"/>
                </a:solidFill>
                <a:latin typeface="Calibri"/>
              </a:rPr>
              <a:t>R² = 0,40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1A1A1A"/>
                </a:solidFill>
                <a:latin typeface="Calibri"/>
              </a:rPr>
              <a:t>MAE = 1,58 ponto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Significa que, em média, a previsão erra menos de dois pontos da nota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MODELO DE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Da previsão para a decisão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_5_metricas_por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6766560" cy="4003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92024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CLASSIFICAÇÃO POR THRESHOLD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NPS predito abaixo do corte = detrator. Acima = não-detrator.</a:t>
            </a:r>
          </a:p>
          <a:p>
            <a:pPr algn="l">
              <a:spcBef>
                <a:spcPts val="18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CORTE ESCOLHIDO</a:t>
            </a:r>
          </a:p>
          <a:p>
            <a:pPr algn="l">
              <a:spcBef>
                <a:spcPts val="400"/>
              </a:spcBef>
            </a:pPr>
            <a:r>
              <a:rPr sz="3600" b="1">
                <a:solidFill>
                  <a:srgbClr val="1A1A1A"/>
                </a:solidFill>
                <a:latin typeface="Calibri"/>
              </a:rPr>
              <a:t>6,0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Equivale a: pedidos com atraso a partir de 1 dia entram na lista de ação.</a:t>
            </a:r>
          </a:p>
          <a:p>
            <a:pPr algn="l">
              <a:spcBef>
                <a:spcPts val="14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RESULTADO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1A1A1A"/>
                </a:solidFill>
                <a:latin typeface="Calibri"/>
              </a:rPr>
              <a:t>F1 = 0,906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Precisão 89,5%, recall 91,8%.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LIMITES E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Onde o modelo erra (e por que isso importa)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_6_perfil_quadr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2452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920240"/>
            <a:ext cx="32004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FALSOS NEGATIVOS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Detratores que escapam têm entrega no prazo, mas mais contatos com SAC e CSAT mais baixo.</a:t>
            </a:r>
          </a:p>
          <a:p>
            <a:pPr algn="l">
              <a:spcBef>
                <a:spcPts val="16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FALSOS POSITIVOS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Clientes 'tolerantes': tiveram atraso, mas não reclamaram nem rebaixaram a nota.</a:t>
            </a:r>
          </a:p>
          <a:p>
            <a:pPr algn="l">
              <a:spcBef>
                <a:spcPts val="1600"/>
              </a:spcBef>
            </a:pPr>
            <a:r>
              <a:rPr sz="1100" b="1">
                <a:solidFill>
                  <a:srgbClr val="ED145B"/>
                </a:solidFill>
                <a:latin typeface="Calibri"/>
              </a:rPr>
              <a:t>ONDE EXPANDIR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Calibri"/>
              </a:rPr>
              <a:t>Adicionar contatos com SAC e CSAT ao modelo cobre os FNs em uma versão futura.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RECOMENDAÇÕES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Três formas de usar o modelo amanhã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867" y="2194560"/>
            <a:ext cx="3611880" cy="3931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867" y="2194560"/>
            <a:ext cx="3611880" cy="10972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187" y="2468880"/>
            <a:ext cx="3063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D145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35661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Alarme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42519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Calibri"/>
              </a:rPr>
              <a:t>Acionar o SAC proativamente nos pedidos com atraso a partir de 1 dia, antes da pesquisa de NPS sair.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9907" y="2194560"/>
            <a:ext cx="3611880" cy="3931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9907" y="2194560"/>
            <a:ext cx="3611880" cy="10972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4227" y="2468880"/>
            <a:ext cx="3063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D145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35661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Priorização do SAC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42519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Calibri"/>
              </a:rPr>
              <a:t>Distribuir a fila do atendimento pelo NPS predito ranqueado, atacando primeiro os clientes com maior risco.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8947" y="2194560"/>
            <a:ext cx="3611880" cy="3931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8947" y="2194560"/>
            <a:ext cx="3611880" cy="10972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267" y="2468880"/>
            <a:ext cx="3063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D145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267" y="35661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Painel de NPS projetado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3267" y="425196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Calibri"/>
              </a:rPr>
              <a:t>Acompanhar em tempo real o NPS estimado da operação, sem esperar a pesquisa fechar para ler o humor da 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45B"/>
                </a:solidFill>
                <a:latin typeface="Calibri"/>
              </a:rPr>
              <a:t>PARA ALÉM DA 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381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27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Modelo multivariado.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Incluir contatos com SAC e CSAT interno para reduzir falsos negativos.</a:t>
            </a:r>
          </a:p>
          <a:p>
            <a:pPr algn="l">
              <a:spcBef>
                <a:spcPts val="1800"/>
              </a:spcBef>
            </a:pPr>
            <a:r>
              <a:rPr sz="1800" b="1">
                <a:solidFill>
                  <a:srgbClr val="1A1A1A"/>
                </a:solidFill>
                <a:latin typeface="Calibri"/>
              </a:rPr>
              <a:t>Integração com o fluxo do SAC.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Operacionalizar o alarme dentro da ferramenta de atendimento, fechando o ciclo entre dado e ação.</a:t>
            </a:r>
          </a:p>
          <a:p>
            <a:pPr algn="l">
              <a:spcBef>
                <a:spcPts val="1800"/>
              </a:spcBef>
            </a:pPr>
            <a:r>
              <a:rPr sz="1800" b="1">
                <a:solidFill>
                  <a:srgbClr val="1A1A1A"/>
                </a:solidFill>
                <a:latin typeface="Calibri"/>
              </a:rPr>
              <a:t>Monitoramento contínuo.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Acompanhar a estabilidade das métricas ao longo do tempo e revisar o threshold conforme a operação evolui.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10927080" cy="9144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27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27080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NPS Preditivo  ·  Tech Challenge Fase 1  ·  MBA AI Scientist FIAP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19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ED145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